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9_DF85A97B.xml" ContentType="application/vnd.ms-powerpoint.comments+xml"/>
  <Override PartName="/ppt/notesSlides/notesSlide3.xml" ContentType="application/vnd.openxmlformats-officedocument.presentationml.notesSlide+xml"/>
  <Override PartName="/ppt/comments/modernComment_105_52840F75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15"/>
  </p:notesMasterIdLst>
  <p:sldIdLst>
    <p:sldId id="256" r:id="rId2"/>
    <p:sldId id="257" r:id="rId3"/>
    <p:sldId id="265" r:id="rId4"/>
    <p:sldId id="262" r:id="rId5"/>
    <p:sldId id="267" r:id="rId6"/>
    <p:sldId id="268" r:id="rId7"/>
    <p:sldId id="271" r:id="rId8"/>
    <p:sldId id="269" r:id="rId9"/>
    <p:sldId id="260" r:id="rId10"/>
    <p:sldId id="261" r:id="rId11"/>
    <p:sldId id="274" r:id="rId12"/>
    <p:sldId id="273" r:id="rId13"/>
    <p:sldId id="272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F640DA-39B7-7A56-D46E-37E6333125D3}" name="denis2005631@gmail.com" initials="d" userId="04d7e046eb0d681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05_52840F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F8F5C15-AC0B-47BF-83E4-C527F8746BFB}" authorId="{1DF640DA-39B7-7A56-D46E-37E6333125D3}" created="2025-12-10T19:40:11.23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84386421" sldId="261"/>
      <ac:spMk id="3" creationId="{42B85BAB-E6E4-ADA5-AE2B-80EFC4C4CFA4}"/>
      <ac:txMk cp="133">
        <ac:context len="135" hash="1702597569"/>
      </ac:txMk>
    </ac:txMkLst>
    <p188:pos x="9119163" y="317158"/>
    <p188:txBody>
      <a:bodyPr/>
      <a:lstStyle/>
      <a:p>
        <a:r>
          <a:rPr lang="ru-RU"/>
          <a:t>Миссия: Рассматриваемая целевая система предназначена для оптимизации процесса нанесения маркировки на продукцию.</a:t>
        </a:r>
      </a:p>
    </p188:txBody>
  </p188:cm>
</p188:cmLst>
</file>

<file path=ppt/comments/modernComment_109_DF85A9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4FB1768-28A5-4A22-A805-A698196B6723}" authorId="{1DF640DA-39B7-7A56-D46E-37E6333125D3}" created="2025-12-10T19:14:04.26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50078843" sldId="265"/>
      <ac:spMk id="3" creationId="{3CF0B92B-9BEC-473B-8F67-08A9E54008D6}"/>
      <ac:txMk cp="363">
        <ac:context len="364" hash="755541698"/>
      </ac:txMk>
    </ac:txMkLst>
    <p188:pos x="8049977" y="2145193"/>
    <p188:txBody>
      <a:bodyPr/>
      <a:lstStyle/>
      <a:p>
        <a:r>
          <a:rPr lang="ru-RU"/>
          <a:t>Проблема: продукция без маркировки фактически «застревает» на складе – её нельзя отгрузить, продать или передать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11BD5-A314-454B-B83A-BE05E85F2F87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67FCC-D33C-4116-A089-26145DE543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79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7FCC-D33C-4116-A089-26145DE5430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430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7FCC-D33C-4116-A089-26145DE5430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721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67FCC-D33C-4116-A089-26145DE5430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53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0A994-26A1-28D1-B91A-79702E6F1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9FCFDB-00B0-C020-C46C-B48C8E54D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FA4D55-CEEE-73ED-0894-ADE5E742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6651F-DA81-44B2-BA25-D9A95BF39489}" type="datetime1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2E3544-84CF-CF11-22E2-D41DB80C3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33136E-8E6F-6045-DFC9-2A3FC2899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0717E-B22F-4BF8-9336-EE0A39261A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03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C9A57-ABB9-8FC6-1EBC-C7DD3B4C6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2CAE67-BB14-CAEE-A7ED-E5AD42ABA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C547AF-5716-A420-4D5F-BB6A7BA97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7199E-7D20-449B-9963-B533EA0DC409}" type="datetime1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B184C9-82E1-A5B7-E172-A9D7DBF58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F015F9-D426-D643-4822-CCB1E831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0717E-B22F-4BF8-9336-EE0A39261A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556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98096-6633-02F6-0A81-34661D1A4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A3ACF9-6A44-DEB4-F2E7-4BEF8F98E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FA20F4-DF6F-CA1D-0768-D3B99662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62577-370B-4A90-AE5A-54C796116313}" type="datetime1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389047-93DF-A490-3395-09338CDBD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DBB325-5192-06D0-6496-2F2E0FD5C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0717E-B22F-4BF8-9336-EE0A39261A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6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5DC6D-8FFF-1D78-CEF0-9CF1AEEB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5F411E-624B-E27F-BCDA-37F421BD5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EA15BF-D45E-0A97-D522-2FE1F30D2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988445-5635-6F3E-79DA-D676D372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1A72-1B5D-49B8-BAF5-64FE2627D7B7}" type="datetime1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1DD377-4BEA-19F4-7227-A0EDF151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6DBEA8-9040-B735-D089-F4A17DC7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0717E-B22F-4BF8-9336-EE0A39261A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548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30524C-2239-6861-4E14-48ECDA43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0C08D6-7F27-79DE-1510-D3DFCC732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79BB6A-2EAA-4EDC-1186-E16F16196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D4443CE-0A06-EE2C-8348-347644F245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AD594A0-A1C9-C507-E1CE-E0BC2A0529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24066DD-5F30-B88B-83F6-8B10966F5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D582E-5AC1-4E15-B95A-3A698ED012EB}" type="datetime1">
              <a:rPr lang="ru-RU" smtClean="0"/>
              <a:t>03.04.2026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839CC9-28A6-747E-D70F-722BE9D0A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ADE701B-DA62-C140-471F-6755B8E0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0717E-B22F-4BF8-9336-EE0A39261A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91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52EC9-F3CF-4311-337B-33E660B0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847A5C-054F-BE60-3F31-45BEE21D9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94977-5584-4605-AB1A-60D220D8B6C7}" type="datetime1">
              <a:rPr lang="ru-RU" smtClean="0"/>
              <a:t>03.04.2026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F1BB17F-6967-3D6D-E662-A5A640ADF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197036-DA96-E578-8A8A-016CDCF13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0717E-B22F-4BF8-9336-EE0A39261A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63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57D647-1BCF-3CB3-C024-33D2E2A7B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7DB11-18B9-46F5-97D9-DCBB95DF1D2F}" type="datetime1">
              <a:rPr lang="ru-RU" smtClean="0"/>
              <a:t>03.04.2026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414119-E365-CF0C-80ED-D56FA54B8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DD9575-A866-9CF7-E0F3-3BF6740C5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0717E-B22F-4BF8-9336-EE0A39261A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646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32596-D778-E396-5C0E-A9B3A8B4B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09594B-18CC-D7A4-BBBA-A1A51ECB5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6FBC42A-E70C-CD1C-6E09-EBD8F71C6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C3173C-D8FE-303D-D16B-592D269DC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B131F-41F7-48C6-9AD0-90BD4209249E}" type="datetime1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E8B65C-5BEB-C3E1-7F17-3EAFE1055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4C04C9-7DB9-BDCC-F974-9EF39DDB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0717E-B22F-4BF8-9336-EE0A39261A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36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21C33-4B25-6DEC-1657-D209B84A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80DFBD6-B6A0-8674-1457-3A01E8653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FC5A96-456B-55C2-44EB-07300ED1A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0A2499-D9ED-84B3-5936-208A459E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635FD-30BD-4A3F-BBFB-E2D3787A5024}" type="datetime1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A902A2-BF3B-76B7-AE85-47E61A258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55D22B-7729-C985-AB6E-20FE32AC1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0717E-B22F-4BF8-9336-EE0A39261A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18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6636A-49CE-CDEC-2959-84761069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1434F6-0BAB-36B9-5EAB-C86CBD8FC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7C9C9A-B030-861E-5C6F-7AAE5D5D2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44B6-75BB-4DF4-A4D9-2A3A4CD78D86}" type="datetime1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F1F705-F4FE-2E1C-1B2B-DC015B058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E76C6E-1E18-CFB6-1341-50491642B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0717E-B22F-4BF8-9336-EE0A39261A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455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23168A2-2108-5DC7-66B4-40D8253D17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549891-1EE8-9C6C-D41E-97AB21AF9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956BF8-896F-0FD1-ADAA-2304FF63C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28DA4-EA7E-4C87-90DA-137DBE2DC269}" type="datetime1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455087-D2A3-56D4-BFD2-9581E4999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732EC9-FD70-C1CE-1D25-C843BF2E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0717E-B22F-4BF8-9336-EE0A39261A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437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57794-5067-EF5A-CCF5-9E071E67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A8C36C-1831-FA6E-0681-FF9A2D3D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AABC01-0B47-D41D-4972-D2350E7D8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1CBDE-5565-4C60-94D6-52809CA699E0}" type="datetime1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27E238-DE9E-AEAD-DFFF-47D9414F8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C927CB-342A-4FC4-1EFA-8B45EDB3F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0717E-B22F-4BF8-9336-EE0A39261A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5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DF85A97B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52840F7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0DBE90-CCD5-276A-5B26-022E4E524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1500292"/>
            <a:ext cx="9296400" cy="3857416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концепций операций и системного контекста для системы автоматизированной маркировки </a:t>
            </a:r>
          </a:p>
        </p:txBody>
      </p:sp>
    </p:spTree>
    <p:extLst>
      <p:ext uri="{BB962C8B-B14F-4D97-AF65-F5344CB8AC3E}">
        <p14:creationId xmlns:p14="http://schemas.microsoft.com/office/powerpoint/2010/main" val="3337877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FC9596-23C5-E95B-1F9C-ED0207526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54" y="609600"/>
            <a:ext cx="8596668" cy="1320800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Краткое описание предприятия, которое будет использовать АС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C48C32-84AC-CBA6-D329-16F582CD8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554" y="2140869"/>
            <a:ext cx="7267073" cy="41075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нашем проекте для рассмотрения возможности оптимизации деятельности было выбрано предприятие «Щекиноазот».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«Щекиноазот» занимается производством широкого спектра химической продукции, включая промышленные химикаты, минеральные удобрения, а также товары народного потребления, такие как бытовая химия.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8741340-D701-4083-AE4F-878ABF227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4330" y="6394706"/>
            <a:ext cx="683339" cy="365125"/>
          </a:xfrm>
        </p:spPr>
        <p:txBody>
          <a:bodyPr/>
          <a:lstStyle/>
          <a:p>
            <a:r>
              <a:rPr lang="ru-RU" sz="2400" b="1" dirty="0">
                <a:solidFill>
                  <a:schemeClr val="tx1"/>
                </a:solidFill>
              </a:rPr>
              <a:t>1</a:t>
            </a:r>
            <a:endParaRPr lang="ru-RU" sz="2000" b="1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098A48-0EE5-8DBC-A667-9165666D4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2427" y="2440392"/>
            <a:ext cx="4654998" cy="3093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82BFB477-0A6E-4AD1-A69C-3538849F6BDE}"/>
              </a:ext>
            </a:extLst>
          </p:cNvPr>
          <p:cNvSpPr txBox="1">
            <a:spLocks/>
          </p:cNvSpPr>
          <p:nvPr/>
        </p:nvSpPr>
        <p:spPr>
          <a:xfrm>
            <a:off x="10867138" y="6203287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160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1F424-7B45-4FB3-9F74-A2984767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F0B92B-9BEC-473B-8F67-08A9E5400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8999101" cy="424589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	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Проблемная ситуация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согласно постановлению Правительства РФ от 30.11.2024 № 1681, были утверждены правила обязательной маркировки бытовой химии.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Предприятие не оборудовано для нанесения маркировки на продукцию.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Проблема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Невозможность осуществлять торговую деятельность до момента, пока продукция не имеет маркировки с данными, установленными в постановлении.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72A378-4E67-42CB-A0FE-933AAFCF3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C14D25-5C7B-4DA1-BE14-328FF3681729}"/>
              </a:ext>
            </a:extLst>
          </p:cNvPr>
          <p:cNvSpPr txBox="1">
            <a:spLocks/>
          </p:cNvSpPr>
          <p:nvPr/>
        </p:nvSpPr>
        <p:spPr>
          <a:xfrm>
            <a:off x="5754330" y="6394706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>
                <a:solidFill>
                  <a:schemeClr val="tx1"/>
                </a:solidFill>
              </a:rPr>
              <a:t>2</a:t>
            </a:r>
            <a:endParaRPr lang="ru-RU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0788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A46564-10E6-D30A-82C9-8AC2A274F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34" y="2341402"/>
            <a:ext cx="4871085" cy="2175193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Контекстная диаграмма текущего процесса производства</a:t>
            </a:r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EAE6EB96-CCEC-4B61-8355-B26501378CF6}"/>
              </a:ext>
            </a:extLst>
          </p:cNvPr>
          <p:cNvSpPr txBox="1">
            <a:spLocks/>
          </p:cNvSpPr>
          <p:nvPr/>
        </p:nvSpPr>
        <p:spPr>
          <a:xfrm>
            <a:off x="5754330" y="6394706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000" b="1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ACE2DFB-F82C-4089-BD83-FA2BA8432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457" y="1299012"/>
            <a:ext cx="4985663" cy="4259972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749E4FB-78C3-4E73-81DA-454A4AD3F3C8}"/>
              </a:ext>
            </a:extLst>
          </p:cNvPr>
          <p:cNvSpPr txBox="1">
            <a:spLocks/>
          </p:cNvSpPr>
          <p:nvPr/>
        </p:nvSpPr>
        <p:spPr>
          <a:xfrm>
            <a:off x="5412660" y="6394705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>
                <a:solidFill>
                  <a:schemeClr val="tx1"/>
                </a:solidFill>
              </a:rPr>
              <a:t>3</a:t>
            </a:r>
            <a:endParaRPr lang="ru-RU" sz="2000" b="1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A46027-B297-AEA4-4A52-951E2840E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356" y="1299012"/>
            <a:ext cx="7584644" cy="490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50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08FFC-D61D-9880-9450-AC246E839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8813" y="273934"/>
            <a:ext cx="8596668" cy="779362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Заинтересованные стороны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D01C6DFE-7906-A0B9-99E9-A0D4773A7C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8981587"/>
              </p:ext>
            </p:extLst>
          </p:nvPr>
        </p:nvGraphicFramePr>
        <p:xfrm>
          <a:off x="1238189" y="1600437"/>
          <a:ext cx="9715621" cy="32927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4875">
                  <a:extLst>
                    <a:ext uri="{9D8B030D-6E8A-4147-A177-3AD203B41FA5}">
                      <a16:colId xmlns:a16="http://schemas.microsoft.com/office/drawing/2014/main" val="3357040658"/>
                    </a:ext>
                  </a:extLst>
                </a:gridCol>
                <a:gridCol w="5977721">
                  <a:extLst>
                    <a:ext uri="{9D8B030D-6E8A-4147-A177-3AD203B41FA5}">
                      <a16:colId xmlns:a16="http://schemas.microsoft.com/office/drawing/2014/main" val="1613573603"/>
                    </a:ext>
                  </a:extLst>
                </a:gridCol>
                <a:gridCol w="869525">
                  <a:extLst>
                    <a:ext uri="{9D8B030D-6E8A-4147-A177-3AD203B41FA5}">
                      <a16:colId xmlns:a16="http://schemas.microsoft.com/office/drawing/2014/main" val="2586323496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294687827"/>
                    </a:ext>
                  </a:extLst>
                </a:gridCol>
              </a:tblGrid>
              <a:tr h="674806">
                <a:tc>
                  <a:txBody>
                    <a:bodyPr/>
                    <a:lstStyle/>
                    <a:p>
                      <a:pPr indent="450215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Роль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Потребность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ru-RU" sz="1600" b="1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Внутренняя/</a:t>
                      </a:r>
                      <a:br>
                        <a:rPr lang="ru-RU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ru-RU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внешняя ЗC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114702"/>
                  </a:ext>
                </a:extLst>
              </a:tr>
              <a:tr h="1496293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ru-RU" sz="16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Совет директоров</a:t>
                      </a: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Быстрое внедрение решения, обеспечивающего бесперебойный выпуск легальной продукции</a:t>
                      </a:r>
                      <a:endParaRPr lang="ru-RU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SN.1</a:t>
                      </a:r>
                      <a:endParaRPr lang="ru-RU" sz="16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Внутренняя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917181"/>
                  </a:ext>
                </a:extLst>
              </a:tr>
              <a:tr h="1121613">
                <a:tc>
                  <a:txBody>
                    <a:bodyPr/>
                    <a:lstStyle/>
                    <a:p>
                      <a:pPr indent="450215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Отдел контроля качества</a:t>
                      </a:r>
                      <a:endParaRPr lang="ru-RU" sz="1600" b="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Интеграция оборудования в текущие процессы с сохранением имеющейся скорости производства</a:t>
                      </a:r>
                      <a:endParaRPr lang="ru-RU" sz="1600" b="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SN.2</a:t>
                      </a:r>
                      <a:endParaRPr lang="ru-RU" sz="16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Внутренняя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ru-RU" sz="1600" b="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094883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8CB355-B7A6-EC1F-F97A-1C834306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3FFF0241-4D18-415B-A765-4C1CE8B64692}"/>
              </a:ext>
            </a:extLst>
          </p:cNvPr>
          <p:cNvSpPr txBox="1">
            <a:spLocks/>
          </p:cNvSpPr>
          <p:nvPr/>
        </p:nvSpPr>
        <p:spPr>
          <a:xfrm>
            <a:off x="5412660" y="6356350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>
                <a:solidFill>
                  <a:schemeClr val="tx1"/>
                </a:solidFill>
              </a:rPr>
              <a:t>5</a:t>
            </a:r>
            <a:endParaRPr lang="ru-RU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828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19077B-AA0E-708D-473F-A737C0BE9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1190" y="0"/>
            <a:ext cx="69342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Заинтересованная сторона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A75FCB9A-47BE-FC91-DF11-C455C76C39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156402"/>
              </p:ext>
            </p:extLst>
          </p:nvPr>
        </p:nvGraphicFramePr>
        <p:xfrm>
          <a:off x="535033" y="1836080"/>
          <a:ext cx="11121933" cy="282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6202">
                  <a:extLst>
                    <a:ext uri="{9D8B030D-6E8A-4147-A177-3AD203B41FA5}">
                      <a16:colId xmlns:a16="http://schemas.microsoft.com/office/drawing/2014/main" val="1456801196"/>
                    </a:ext>
                  </a:extLst>
                </a:gridCol>
                <a:gridCol w="6367739">
                  <a:extLst>
                    <a:ext uri="{9D8B030D-6E8A-4147-A177-3AD203B41FA5}">
                      <a16:colId xmlns:a16="http://schemas.microsoft.com/office/drawing/2014/main" val="2230038335"/>
                    </a:ext>
                  </a:extLst>
                </a:gridCol>
                <a:gridCol w="1034095">
                  <a:extLst>
                    <a:ext uri="{9D8B030D-6E8A-4147-A177-3AD203B41FA5}">
                      <a16:colId xmlns:a16="http://schemas.microsoft.com/office/drawing/2014/main" val="1060907340"/>
                    </a:ext>
                  </a:extLst>
                </a:gridCol>
                <a:gridCol w="1983897">
                  <a:extLst>
                    <a:ext uri="{9D8B030D-6E8A-4147-A177-3AD203B41FA5}">
                      <a16:colId xmlns:a16="http://schemas.microsoft.com/office/drawing/2014/main" val="2720950316"/>
                    </a:ext>
                  </a:extLst>
                </a:gridCol>
              </a:tblGrid>
              <a:tr h="613944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Роль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Потребность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ID</a:t>
                      </a:r>
                      <a:endParaRPr lang="ru-RU" sz="1600" b="1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Внутренняя/</a:t>
                      </a:r>
                      <a:br>
                        <a:rPr lang="ru-RU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ru-RU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внешняя ЗC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804153"/>
                  </a:ext>
                </a:extLst>
              </a:tr>
              <a:tr h="731412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Отдел управления</a:t>
                      </a:r>
                      <a:endParaRPr lang="ru-RU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ru-RU" sz="16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Обеспечение законодательно легального производства экономически наиболее эффективным способом</a:t>
                      </a: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SN.</a:t>
                      </a:r>
                      <a:r>
                        <a:rPr lang="ru-RU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Внутренняя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13665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indent="450215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Заказчик</a:t>
                      </a:r>
                      <a:endParaRPr lang="ru-RU" sz="1600" b="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Получение от «Щекиноазот» гарантий соответствия поставки и возможности проверки кодов маркировки при приемке</a:t>
                      </a:r>
                      <a:endParaRPr lang="ru-RU" sz="1600" b="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SN.</a:t>
                      </a:r>
                      <a:r>
                        <a:rPr lang="ru-RU" sz="16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Внешняя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746446"/>
                  </a:ext>
                </a:extLst>
              </a:tr>
              <a:tr h="613944">
                <a:tc>
                  <a:txBody>
                    <a:bodyPr/>
                    <a:lstStyle/>
                    <a:p>
                      <a:pPr indent="450215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Роспотребнадзор</a:t>
                      </a:r>
                      <a:endParaRPr lang="ru-RU" sz="1600" b="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2000"/>
                        </a:spcAft>
                        <a:buNone/>
                      </a:pPr>
                      <a:r>
                        <a:rPr lang="ru-RU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Удалённый контроль и мониторинг оборота с использованием данных маркировки в установленном формате</a:t>
                      </a:r>
                      <a:endParaRPr lang="ru-RU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975" marR="53975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SN.</a:t>
                      </a:r>
                      <a:r>
                        <a:rPr lang="ru-RU" sz="16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b="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Внешняя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029658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7C885E-5B57-B922-7A6A-586321B7D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60F5FAA9-8423-4B0F-B370-20626034ADDA}"/>
              </a:ext>
            </a:extLst>
          </p:cNvPr>
          <p:cNvSpPr txBox="1">
            <a:spLocks/>
          </p:cNvSpPr>
          <p:nvPr/>
        </p:nvSpPr>
        <p:spPr>
          <a:xfrm>
            <a:off x="5412660" y="6356349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>
                <a:solidFill>
                  <a:schemeClr val="tx1"/>
                </a:solidFill>
              </a:rPr>
              <a:t>6</a:t>
            </a:r>
            <a:endParaRPr lang="ru-RU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169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DB743F-7FF9-64AD-3B8D-975C42E43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заинтересованных сторон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6D1717-ABF7-BFFA-94B8-00954A04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0717E-B22F-4BF8-9336-EE0A39261A38}" type="slidenum">
              <a:rPr lang="ru-RU" smtClean="0"/>
              <a:t>7</a:t>
            </a:fld>
            <a:endParaRPr lang="ru-RU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525EDB3F-9274-A980-9210-424980794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816" y="1376897"/>
            <a:ext cx="7705137" cy="526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538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93065A-C562-D131-1B13-BAC0D98D8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8735" y="376701"/>
            <a:ext cx="1754529" cy="80391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</a:t>
            </a: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A9EA67-199A-A314-FA91-CF05D98B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5" name="Объект 3">
            <a:extLst>
              <a:ext uri="{FF2B5EF4-FFF2-40B4-BE49-F238E27FC236}">
                <a16:creationId xmlns:a16="http://schemas.microsoft.com/office/drawing/2014/main" id="{33A3BD8E-E280-CC25-0239-11AC1C9D4B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3736940"/>
              </p:ext>
            </p:extLst>
          </p:nvPr>
        </p:nvGraphicFramePr>
        <p:xfrm>
          <a:off x="1669485" y="1686560"/>
          <a:ext cx="8853028" cy="4668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7149">
                  <a:extLst>
                    <a:ext uri="{9D8B030D-6E8A-4147-A177-3AD203B41FA5}">
                      <a16:colId xmlns:a16="http://schemas.microsoft.com/office/drawing/2014/main" val="1569646855"/>
                    </a:ext>
                  </a:extLst>
                </a:gridCol>
                <a:gridCol w="6302952">
                  <a:extLst>
                    <a:ext uri="{9D8B030D-6E8A-4147-A177-3AD203B41FA5}">
                      <a16:colId xmlns:a16="http://schemas.microsoft.com/office/drawing/2014/main" val="1981974536"/>
                    </a:ext>
                  </a:extLst>
                </a:gridCol>
                <a:gridCol w="1562927">
                  <a:extLst>
                    <a:ext uri="{9D8B030D-6E8A-4147-A177-3AD203B41FA5}">
                      <a16:colId xmlns:a16="http://schemas.microsoft.com/office/drawing/2014/main" val="3795765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ru-RU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Трассировка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579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Gl.1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Время, затраченное на внедрение системы от стадии концепции до ввода в эксплуатацию, не превышает 12 месяцев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SN.1</a:t>
                      </a:r>
                      <a:endParaRPr lang="ru-RU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ru-RU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03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Gl.2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Сохранить время, затрачиваемое на изготовление единицы изделия после внедрения, с отклонением не более 2 минут от текущего показателя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SN.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algn="ctr"/>
                      <a:endParaRPr lang="ru-RU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333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Gl.3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Обеспечить сохранение затрат на изготовление единицы изделия после внедрения с отклонением не более 5% от текущего показателя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SN.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algn="ctr"/>
                      <a:endParaRPr lang="ru-RU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430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Gl.4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Обеспечить взаимодействие разрабатываемой системы и имеющейся системы генерирования кодов с частотой отказов не более 1 на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4000 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часов работы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SN.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SN.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367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Gl.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ru-RU" sz="18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Процент брака вызванный нанесением маркировки не должен превышать 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SN.</a:t>
                      </a:r>
                      <a:r>
                        <a:rPr lang="ru-RU" sz="1800" b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algn="ctr"/>
                      <a:endParaRPr lang="ru-RU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271876"/>
                  </a:ext>
                </a:extLst>
              </a:tr>
            </a:tbl>
          </a:graphicData>
        </a:graphic>
      </p:graphicFrame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id="{A2B65FF9-26A5-4DF0-822B-B55C12EC5ABC}"/>
              </a:ext>
            </a:extLst>
          </p:cNvPr>
          <p:cNvSpPr txBox="1">
            <a:spLocks/>
          </p:cNvSpPr>
          <p:nvPr/>
        </p:nvSpPr>
        <p:spPr>
          <a:xfrm>
            <a:off x="5412660" y="6356349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>
                <a:solidFill>
                  <a:schemeClr val="tx1"/>
                </a:solidFill>
              </a:rPr>
              <a:t>7</a:t>
            </a:r>
            <a:endParaRPr lang="ru-RU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068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19D09C-B285-6215-52CE-F0899ADD1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1750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решения каких задач предприятие хочет внедрить АС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80EE8E-1D01-1464-83CE-3D8BC8824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22487"/>
            <a:ext cx="94773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задачи, для решения которых предприятие внедряет АС.	</a:t>
            </a:r>
          </a:p>
          <a:p>
            <a:pPr marL="0" indent="0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Нанесение маркировки согласно постановлению и установленному формату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Обеспечение легального производства, соответствующего законодательству РФ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Прозрачность учёта произведённой продукции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9E9A0B58-21CF-4B62-A33C-741B04CC19F0}"/>
              </a:ext>
            </a:extLst>
          </p:cNvPr>
          <p:cNvSpPr txBox="1">
            <a:spLocks/>
          </p:cNvSpPr>
          <p:nvPr/>
        </p:nvSpPr>
        <p:spPr>
          <a:xfrm>
            <a:off x="5754330" y="6394706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000" b="1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5B2C75-E73F-454E-94CF-8BDCCEF78C66}"/>
              </a:ext>
            </a:extLst>
          </p:cNvPr>
          <p:cNvSpPr txBox="1">
            <a:spLocks/>
          </p:cNvSpPr>
          <p:nvPr/>
        </p:nvSpPr>
        <p:spPr>
          <a:xfrm>
            <a:off x="5754329" y="6375912"/>
            <a:ext cx="683339" cy="3839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>
                <a:solidFill>
                  <a:schemeClr val="tx1"/>
                </a:solidFill>
              </a:rPr>
              <a:t>9</a:t>
            </a:r>
            <a:endParaRPr lang="ru-RU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422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CE9B87-0C2B-BB3B-39F3-54448BC66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379" y="636299"/>
            <a:ext cx="4919240" cy="112305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Миссия (назначение)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B85BAB-E6E4-ADA5-AE2B-80EFC4C4C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399" y="1759352"/>
            <a:ext cx="9267825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Миссия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автоматизированной системы для маркировки бытовой химии согласно правилам и нормам, установленных Правительством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5BBA96-0BCD-4E93-A479-A5478CFD8379}"/>
              </a:ext>
            </a:extLst>
          </p:cNvPr>
          <p:cNvSpPr txBox="1">
            <a:spLocks/>
          </p:cNvSpPr>
          <p:nvPr/>
        </p:nvSpPr>
        <p:spPr>
          <a:xfrm>
            <a:off x="5415972" y="6388080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>
                <a:solidFill>
                  <a:schemeClr val="tx1"/>
                </a:solidFill>
              </a:rPr>
              <a:t>10</a:t>
            </a:r>
            <a:endParaRPr lang="ru-RU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3864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C6584D-AEAA-A922-2209-6C1E581D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39" y="110194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DFD</a:t>
            </a:r>
            <a:br>
              <a:rPr lang="en-US" sz="2800" dirty="0"/>
            </a:br>
            <a:r>
              <a:rPr lang="ru-RU" sz="2800" dirty="0"/>
              <a:t>0</a:t>
            </a:r>
            <a:r>
              <a:rPr lang="en-US" sz="2800" dirty="0"/>
              <a:t>-</a:t>
            </a:r>
            <a:r>
              <a:rPr lang="ru-RU" sz="2800" dirty="0"/>
              <a:t>ой уровень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648DD4-4BF6-88C1-6CEF-A02FC263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0717E-B22F-4BF8-9336-EE0A39261A38}" type="slidenum">
              <a:rPr lang="ru-RU" smtClean="0"/>
              <a:t>11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3D149A-91E3-9909-D0FA-8797A2E14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829" y="0"/>
            <a:ext cx="95411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83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6A5B06-0FB2-FC1F-6861-2E8022CB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0717E-B22F-4BF8-9336-EE0A39261A38}" type="slidenum">
              <a:rPr lang="ru-RU" smtClean="0"/>
              <a:t>12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B72F20-E7C9-7F4D-B37C-4F42CE064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389" y="0"/>
            <a:ext cx="9619611" cy="6858000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41EE37C-6997-8B1F-34B3-4783C5511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68" y="1048032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DFD</a:t>
            </a:r>
            <a:br>
              <a:rPr lang="en-US" sz="2800" dirty="0"/>
            </a:br>
            <a:r>
              <a:rPr lang="en-US" sz="2800" dirty="0"/>
              <a:t>1-</a:t>
            </a:r>
            <a:r>
              <a:rPr lang="ru-RU" sz="2800" dirty="0" err="1"/>
              <a:t>ый</a:t>
            </a:r>
            <a:r>
              <a:rPr lang="ru-RU" sz="2800" dirty="0"/>
              <a:t>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68355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A1E0AAF-FAA6-7250-84E0-E6543031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0717E-B22F-4BF8-9336-EE0A39261A38}" type="slidenum">
              <a:rPr lang="ru-RU" smtClean="0"/>
              <a:t>13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5950A6D-8CFA-52D5-7EFF-8F1200633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817" y="0"/>
            <a:ext cx="930918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B1FFC9-F5E9-3E30-2665-FEC3AE23317E}"/>
              </a:ext>
            </a:extLst>
          </p:cNvPr>
          <p:cNvSpPr txBox="1"/>
          <p:nvPr/>
        </p:nvSpPr>
        <p:spPr>
          <a:xfrm>
            <a:off x="454306" y="1337802"/>
            <a:ext cx="60940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DFD</a:t>
            </a:r>
            <a:br>
              <a:rPr lang="en-US" sz="2800" dirty="0"/>
            </a:br>
            <a:r>
              <a:rPr lang="ru-RU" sz="2800" dirty="0"/>
              <a:t>2</a:t>
            </a:r>
            <a:r>
              <a:rPr lang="en-US" sz="2800" dirty="0"/>
              <a:t>-</a:t>
            </a:r>
            <a:r>
              <a:rPr lang="ru-RU" sz="2800" dirty="0"/>
              <a:t>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6868308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1010</TotalTime>
  <Words>451</Words>
  <Application>Microsoft Office PowerPoint</Application>
  <PresentationFormat>Широкоэкранный</PresentationFormat>
  <Paragraphs>80</Paragraphs>
  <Slides>13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Тема Office</vt:lpstr>
      <vt:lpstr>Описание концепций операций и системного контекста для системы автоматизированной маркировки </vt:lpstr>
      <vt:lpstr>Краткое описание предприятия, которое будет использовать АС</vt:lpstr>
      <vt:lpstr>Описание проблемы</vt:lpstr>
      <vt:lpstr>Контекстная диаграмма текущего процесса производства</vt:lpstr>
      <vt:lpstr>Заинтересованные стороны</vt:lpstr>
      <vt:lpstr>Заинтересованная сторона</vt:lpstr>
      <vt:lpstr>Анализ заинтересованных сторон </vt:lpstr>
      <vt:lpstr>Цели </vt:lpstr>
      <vt:lpstr>Для решения каких задач предприятие хочет внедрить АС? </vt:lpstr>
      <vt:lpstr>Миссия (назначение) </vt:lpstr>
      <vt:lpstr>DFD 0-ой уровень</vt:lpstr>
      <vt:lpstr>DFD 1-ый уровень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Описание концепций операций и системного контекста для системы автоматизированной маркировки</dc:title>
  <dc:creator>denis2005631@gmail.com</dc:creator>
  <cp:lastModifiedBy>Денис Махортов </cp:lastModifiedBy>
  <cp:revision>55</cp:revision>
  <dcterms:created xsi:type="dcterms:W3CDTF">2025-10-08T19:46:04Z</dcterms:created>
  <dcterms:modified xsi:type="dcterms:W3CDTF">2026-04-03T18:25:10Z</dcterms:modified>
</cp:coreProperties>
</file>